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4.jpg" ContentType="image/jpg"/>
  <Override PartName="/ppt/media/image6.jpg" ContentType="image/jpg"/>
  <Override PartName="/ppt/media/image7.jpg" ContentType="image/jpg"/>
  <Override PartName="/ppt/media/image9.jpg" ContentType="image/jpg"/>
  <Override PartName="/ppt/media/image13.jpg" ContentType="image/jpg"/>
  <Override PartName="/ppt/media/image14.jpg" ContentType="image/jpg"/>
  <Override PartName="/ppt/media/image1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39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22727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08061360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74073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84450445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77127465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14317114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28815140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91559753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83916253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32804850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789673451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6618" y="2235020"/>
            <a:ext cx="512127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4A9CD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A9C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75736072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1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commonlook.com/pdf-metadata-definition-view-edit-change-remove-importan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hyperlink" Target="https://www.uottawa.ca/respect/sites/www.uottawa.ca.respect/files/fss-fixing-accessibility-errors-in-pdfs.pdf" TargetMode="External"/><Relationship Id="rId7" Type="http://schemas.openxmlformats.org/officeDocument/2006/relationships/hyperlink" Target="https://www.ilovepdf.com/" TargetMode="External"/><Relationship Id="rId2" Type="http://schemas.openxmlformats.org/officeDocument/2006/relationships/hyperlink" Target="https://www.seattleschools.org/UserFiles/Servers/Server_543/File/District/Departments/Technology/qrds/ada/AdobeCommonAccessibilityIssuesQRD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mallpdf.com/" TargetMode="External"/><Relationship Id="rId5" Type="http://schemas.openxmlformats.org/officeDocument/2006/relationships/hyperlink" Target="https://userguide.equidox.co/" TargetMode="External"/><Relationship Id="rId4" Type="http://schemas.openxmlformats.org/officeDocument/2006/relationships/hyperlink" Target="https://itaccessibility.arizona.edu/content/pdf-accessibility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hs.state.il.us/accessibility/tests/officesupply/orderform-inaccessible.pdf" TargetMode="External"/><Relationship Id="rId3" Type="http://schemas.openxmlformats.org/officeDocument/2006/relationships/hyperlink" Target="https://itaccessibility.arizona.edu/sites/default/files/yeats.pdf" TargetMode="External"/><Relationship Id="rId7" Type="http://schemas.openxmlformats.org/officeDocument/2006/relationships/hyperlink" Target="http://www.dhs.state.il.us/accessibility/tests/officesupply/newsletter-inaccessible.pdf" TargetMode="External"/><Relationship Id="rId2" Type="http://schemas.openxmlformats.org/officeDocument/2006/relationships/hyperlink" Target="https://itaccessibility.arizona.edu/content/pdf-accessibil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hs.state.il.us/page.aspx?item=49733" TargetMode="External"/><Relationship Id="rId5" Type="http://schemas.openxmlformats.org/officeDocument/2006/relationships/hyperlink" Target="https://itaccessibility.arizona.edu/sites/default/files/Transition-Guide.pdf" TargetMode="External"/><Relationship Id="rId10" Type="http://schemas.openxmlformats.org/officeDocument/2006/relationships/image" Target="../media/image2.jpeg"/><Relationship Id="rId4" Type="http://schemas.openxmlformats.org/officeDocument/2006/relationships/hyperlink" Target="https://itaccessibility.arizona.edu/sites/default/files/AWorldofLovesample.pdf" TargetMode="External"/><Relationship Id="rId9" Type="http://schemas.openxmlformats.org/officeDocument/2006/relationships/hyperlink" Target="http://www.dhs.state.il.us/accessibility/tests/officesupply/report-inaccessible.pdf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</a:rPr>
              <a:t>PDF</a:t>
            </a:r>
            <a:r>
              <a:rPr sz="4800" spc="-195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Accessibility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995804" y="3206436"/>
            <a:ext cx="6158865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12294A"/>
                </a:solidFill>
                <a:latin typeface="Arial MT"/>
                <a:cs typeface="Arial MT"/>
              </a:rPr>
              <a:t>How</a:t>
            </a:r>
            <a:r>
              <a:rPr sz="66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66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66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6600" dirty="0">
                <a:solidFill>
                  <a:srgbClr val="12294A"/>
                </a:solidFill>
                <a:latin typeface="Arial MT"/>
                <a:cs typeface="Arial MT"/>
              </a:rPr>
              <a:t>make</a:t>
            </a:r>
            <a:r>
              <a:rPr sz="66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6600" dirty="0">
                <a:solidFill>
                  <a:srgbClr val="12294A"/>
                </a:solidFill>
                <a:latin typeface="Arial MT"/>
                <a:cs typeface="Arial MT"/>
              </a:rPr>
              <a:t>your</a:t>
            </a:r>
            <a:r>
              <a:rPr sz="66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6600" spc="-20" dirty="0">
                <a:solidFill>
                  <a:srgbClr val="12294A"/>
                </a:solidFill>
                <a:latin typeface="Arial MT"/>
                <a:cs typeface="Arial MT"/>
              </a:rPr>
              <a:t>documents</a:t>
            </a:r>
            <a:r>
              <a:rPr sz="6600" spc="-1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6600" spc="-20" dirty="0">
                <a:solidFill>
                  <a:srgbClr val="12294A"/>
                </a:solidFill>
                <a:latin typeface="Arial MT"/>
                <a:cs typeface="Arial MT"/>
              </a:rPr>
              <a:t>ADA-</a:t>
            </a:r>
            <a:r>
              <a:rPr sz="6600" spc="-10" dirty="0">
                <a:solidFill>
                  <a:srgbClr val="12294A"/>
                </a:solidFill>
                <a:latin typeface="Arial MT"/>
                <a:cs typeface="Arial MT"/>
              </a:rPr>
              <a:t>compliant</a:t>
            </a:r>
            <a:endParaRPr sz="6600" dirty="0">
              <a:latin typeface="Arial MT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BA247-B106-4644-A3E8-5E16BBD3BA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PDF</a:t>
            </a:r>
            <a:r>
              <a:rPr spc="-85" dirty="0"/>
              <a:t> </a:t>
            </a:r>
            <a:r>
              <a:rPr spc="-10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787" y="1813686"/>
            <a:ext cx="4947920" cy="41395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Portable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Document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Format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(PDF)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file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format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developed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by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Adobe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1993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present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documents,</a:t>
            </a:r>
            <a:r>
              <a:rPr sz="2400" spc="-114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including</a:t>
            </a:r>
            <a:r>
              <a:rPr sz="2400" spc="-1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text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formatting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images,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a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manner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independent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application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software,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hardware,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operating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systems.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(Source: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Wikipedia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240029" marR="62230" indent="-227329">
              <a:lnSpc>
                <a:spcPts val="2590"/>
              </a:lnSpc>
              <a:spcBef>
                <a:spcPts val="1019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created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many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applications</a:t>
            </a:r>
            <a:r>
              <a:rPr sz="2400" spc="-1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(Microsoft</a:t>
            </a:r>
            <a:r>
              <a:rPr sz="2400" spc="-114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Office,</a:t>
            </a:r>
            <a:r>
              <a:rPr sz="2400" spc="-1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web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browsers,</a:t>
            </a:r>
            <a:r>
              <a:rPr sz="2400" spc="-1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</a:t>
            </a:r>
            <a:r>
              <a:rPr sz="2400" spc="-1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Adobe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applications, 	etc.)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2111" y="1825752"/>
            <a:ext cx="3160013" cy="3883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237664-16F9-4BFF-863A-753A47E832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22334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PDF</a:t>
            </a:r>
            <a:r>
              <a:rPr spc="-85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22856"/>
            <a:ext cx="9102090" cy="413257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5"/>
              </a:spcBef>
              <a:buChar char="•"/>
              <a:tabLst>
                <a:tab pos="240029" algn="l"/>
              </a:tabLst>
            </a:pP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Text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Images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Graphics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Logical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structuring</a:t>
            </a:r>
            <a:r>
              <a:rPr sz="2400" spc="-10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elements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(sections,</a:t>
            </a:r>
            <a:r>
              <a:rPr sz="2400" spc="-10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headers,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paragraphs,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etc.)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Annotations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Form</a:t>
            </a:r>
            <a:r>
              <a:rPr sz="24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Fields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Rich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Media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(including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video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content)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Encryption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Digital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Signatures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more!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8E6F0-B02A-4051-9BAB-AC0F2EF510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PDF</a:t>
            </a:r>
            <a:r>
              <a:rPr spc="-85" dirty="0"/>
              <a:t> </a:t>
            </a:r>
            <a:r>
              <a:rPr spc="-10" dirty="0"/>
              <a:t>Metadata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13686"/>
            <a:ext cx="4923155" cy="33540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metadata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consists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information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about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PDF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document,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which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includes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title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document,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author,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subject,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keywords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copyright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information.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information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falls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under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searchable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fields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PDF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document,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which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means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accessed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by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search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utilities.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(Source:</a:t>
            </a:r>
            <a:r>
              <a:rPr sz="2400" spc="-1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CommonLook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4056" y="1886724"/>
            <a:ext cx="4335017" cy="4130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0E9784-DC26-492F-8902-29E3C656D7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PDF</a:t>
            </a:r>
            <a:r>
              <a:rPr spc="-85" dirty="0"/>
              <a:t> </a:t>
            </a:r>
            <a:r>
              <a:rPr spc="-10" dirty="0"/>
              <a:t>Metadata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72497"/>
            <a:ext cx="10085705" cy="34016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Why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important?</a:t>
            </a:r>
            <a:endParaRPr sz="2400">
              <a:latin typeface="Arial MT"/>
              <a:cs typeface="Arial MT"/>
            </a:endParaRPr>
          </a:p>
          <a:p>
            <a:pPr marL="698500" marR="5080" lvl="1" indent="-228600">
              <a:lnSpc>
                <a:spcPts val="2160"/>
              </a:lnSpc>
              <a:spcBef>
                <a:spcPts val="540"/>
              </a:spcBef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12294A"/>
                </a:solidFill>
                <a:latin typeface="Arial"/>
                <a:cs typeface="Arial"/>
              </a:rPr>
              <a:t>title</a:t>
            </a:r>
            <a:r>
              <a:rPr sz="2000" i="1" spc="-60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PDF,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like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title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webpage,</a:t>
            </a:r>
            <a:r>
              <a:rPr sz="20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appears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browser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title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bar,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is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first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thing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search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engines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utilize.</a:t>
            </a:r>
            <a:endParaRPr sz="2000">
              <a:latin typeface="Arial MT"/>
              <a:cs typeface="Arial MT"/>
            </a:endParaRPr>
          </a:p>
          <a:p>
            <a:pPr marL="697865" marR="198120" lvl="1" indent="-229235">
              <a:lnSpc>
                <a:spcPts val="2160"/>
              </a:lnSpc>
              <a:spcBef>
                <a:spcPts val="500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12294A"/>
                </a:solidFill>
                <a:latin typeface="Arial"/>
                <a:cs typeface="Arial"/>
              </a:rPr>
              <a:t>author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,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12294A"/>
                </a:solidFill>
                <a:latin typeface="Arial"/>
                <a:cs typeface="Arial"/>
              </a:rPr>
              <a:t>subject</a:t>
            </a:r>
            <a:r>
              <a:rPr sz="2000" i="1" spc="-4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12294A"/>
                </a:solidFill>
                <a:latin typeface="Arial"/>
                <a:cs typeface="Arial"/>
              </a:rPr>
              <a:t>keywords</a:t>
            </a:r>
            <a:r>
              <a:rPr sz="2000" i="1" spc="-4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make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more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visible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search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engines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(and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thus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search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engine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results).</a:t>
            </a:r>
            <a:endParaRPr sz="20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225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Search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engines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accessibility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go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hand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hand.</a:t>
            </a:r>
            <a:endParaRPr sz="2000">
              <a:latin typeface="Arial MT"/>
              <a:cs typeface="Arial MT"/>
            </a:endParaRPr>
          </a:p>
          <a:p>
            <a:pPr marL="697865" marR="804545" lvl="1" indent="-229235">
              <a:lnSpc>
                <a:spcPts val="2160"/>
              </a:lnSpc>
              <a:spcBef>
                <a:spcPts val="530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Having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information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makes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identifiable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other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uses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(document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management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systems).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How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update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information?</a:t>
            </a:r>
            <a:endParaRPr sz="24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70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Open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any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000" spc="-1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Adobe</a:t>
            </a:r>
            <a:r>
              <a:rPr sz="2000" spc="-114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go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File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&gt;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Properties.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3FAD8-6261-43E2-B640-30CD942757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Protected</a:t>
            </a:r>
            <a:r>
              <a:rPr spc="-150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Locked</a:t>
            </a:r>
            <a:r>
              <a:rPr spc="-155" dirty="0"/>
              <a:t> </a:t>
            </a:r>
            <a:r>
              <a:rPr spc="-20" dirty="0"/>
              <a:t>PDFs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77110"/>
            <a:ext cx="4980305" cy="39909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428625" indent="-227329">
              <a:lnSpc>
                <a:spcPts val="2300"/>
              </a:lnSpc>
              <a:spcBef>
                <a:spcPts val="66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external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sources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are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sometimes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locked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prevent 	tampering.</a:t>
            </a:r>
            <a:endParaRPr sz="2400">
              <a:latin typeface="Arial MT"/>
              <a:cs typeface="Arial MT"/>
            </a:endParaRPr>
          </a:p>
          <a:p>
            <a:pPr marL="240029" marR="309245" indent="-227329">
              <a:lnSpc>
                <a:spcPts val="23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When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occurs,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necessary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changes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allow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accessibility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cannot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saved.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ts val="23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best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way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work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around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600" dirty="0">
                <a:solidFill>
                  <a:srgbClr val="12294A"/>
                </a:solidFill>
                <a:latin typeface="Arial MT"/>
                <a:cs typeface="Arial MT"/>
              </a:rPr>
              <a:t>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contact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creator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PDF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work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out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how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best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make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the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 accessible.</a:t>
            </a:r>
            <a:endParaRPr sz="2400">
              <a:latin typeface="Arial MT"/>
              <a:cs typeface="Arial MT"/>
            </a:endParaRPr>
          </a:p>
          <a:p>
            <a:pPr marL="240029" marR="581025" indent="-227329">
              <a:lnSpc>
                <a:spcPts val="231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If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fails,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online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tools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exist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to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unlock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PDFs.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868550"/>
            <a:ext cx="5181599" cy="4165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A1095-74DD-4C7B-BC5F-304BEE0AC9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Getting</a:t>
            </a:r>
            <a:r>
              <a:rPr spc="-130" dirty="0"/>
              <a:t> </a:t>
            </a:r>
            <a:r>
              <a:rPr dirty="0"/>
              <a:t>Started</a:t>
            </a:r>
            <a:r>
              <a:rPr spc="-125" dirty="0"/>
              <a:t> </a:t>
            </a:r>
            <a:r>
              <a:rPr dirty="0"/>
              <a:t>with</a:t>
            </a:r>
            <a:r>
              <a:rPr spc="-125" dirty="0"/>
              <a:t> </a:t>
            </a:r>
            <a:r>
              <a:rPr dirty="0"/>
              <a:t>PDF</a:t>
            </a:r>
            <a:r>
              <a:rPr spc="-270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13686"/>
            <a:ext cx="4896485" cy="21647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324485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Adobe</a:t>
            </a:r>
            <a:r>
              <a:rPr sz="2400" spc="-1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(NOT</a:t>
            </a:r>
            <a:r>
              <a:rPr sz="2400" spc="-1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Adobe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Reader)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used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to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make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most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accessible.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ts val="259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spc="-125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get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started,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open</a:t>
            </a:r>
            <a:r>
              <a:rPr sz="2400" spc="-1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and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make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sure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“Accessibility”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tool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has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been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added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tools.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4015" y="1825753"/>
            <a:ext cx="4934711" cy="42283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96D7A8-B7CA-4DAF-8A3D-3658D11ACD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Checking</a:t>
            </a:r>
            <a:r>
              <a:rPr spc="-10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PDF</a:t>
            </a:r>
            <a:r>
              <a:rPr spc="-260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13686"/>
            <a:ext cx="4998085" cy="294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spc="-125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run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initial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check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on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for 	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accessibility,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click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 	“Accessibility”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tool.</a:t>
            </a:r>
            <a:endParaRPr sz="2400" dirty="0">
              <a:latin typeface="Arial MT"/>
              <a:cs typeface="Arial MT"/>
            </a:endParaRPr>
          </a:p>
          <a:p>
            <a:pPr marL="240029" marR="428625" indent="-227329">
              <a:lnSpc>
                <a:spcPts val="259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menu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appears,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click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10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“Accessibility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Check”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option.</a:t>
            </a:r>
            <a:endParaRPr sz="2400" dirty="0">
              <a:latin typeface="Arial MT"/>
              <a:cs typeface="Arial MT"/>
            </a:endParaRPr>
          </a:p>
          <a:p>
            <a:pPr marL="240029" marR="38100" indent="-227329">
              <a:lnSpc>
                <a:spcPts val="25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Make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sure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options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are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checked,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then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click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“Start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Checking” 	button.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2178" y="1737360"/>
            <a:ext cx="4855451" cy="4210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7CC8C-8C67-4A96-96E2-55A5A97B68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Checking</a:t>
            </a:r>
            <a:r>
              <a:rPr spc="-10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PDF</a:t>
            </a:r>
            <a:r>
              <a:rPr spc="-260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777110"/>
            <a:ext cx="6301740" cy="39566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138430" indent="-227329">
              <a:lnSpc>
                <a:spcPts val="2300"/>
              </a:lnSpc>
              <a:spcBef>
                <a:spcPts val="660"/>
              </a:spcBef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1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Accessibility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Checker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will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return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of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issues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finds.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i="1" dirty="0">
                <a:solidFill>
                  <a:srgbClr val="12294A"/>
                </a:solidFill>
                <a:latin typeface="Arial"/>
                <a:cs typeface="Arial"/>
              </a:rPr>
              <a:t>Almost</a:t>
            </a:r>
            <a:r>
              <a:rPr sz="2400" i="1" spc="-50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these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issues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will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need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be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corrected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before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considered 	accessible.</a:t>
            </a:r>
            <a:endParaRPr sz="2400">
              <a:latin typeface="Arial MT"/>
              <a:cs typeface="Arial MT"/>
            </a:endParaRPr>
          </a:p>
          <a:p>
            <a:pPr marL="239395" marR="756920" indent="-227329" algn="just">
              <a:lnSpc>
                <a:spcPts val="2300"/>
              </a:lnSpc>
              <a:spcBef>
                <a:spcPts val="980"/>
              </a:spcBef>
              <a:buChar char="•"/>
              <a:tabLst>
                <a:tab pos="240665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NOTE:</a:t>
            </a:r>
            <a:r>
              <a:rPr sz="2400" spc="-1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1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Accessibility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Checker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not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perfect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sometimes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does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miss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some 	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issues!</a:t>
            </a:r>
            <a:endParaRPr sz="2400">
              <a:latin typeface="Arial MT"/>
              <a:cs typeface="Arial MT"/>
            </a:endParaRPr>
          </a:p>
          <a:p>
            <a:pPr marL="698500" marR="137795" lvl="1" indent="-229235">
              <a:lnSpc>
                <a:spcPts val="1920"/>
              </a:lnSpc>
              <a:spcBef>
                <a:spcPts val="525"/>
              </a:spcBef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issues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it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misses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are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related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tables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headers.</a:t>
            </a:r>
            <a:endParaRPr sz="2000">
              <a:latin typeface="Arial MT"/>
              <a:cs typeface="Arial MT"/>
            </a:endParaRPr>
          </a:p>
          <a:p>
            <a:pPr marL="239395" marR="487045" indent="-227329">
              <a:lnSpc>
                <a:spcPts val="2300"/>
              </a:lnSpc>
              <a:spcBef>
                <a:spcPts val="985"/>
              </a:spcBef>
              <a:buChar char="•"/>
              <a:tabLst>
                <a:tab pos="241300" algn="l"/>
              </a:tabLst>
            </a:pPr>
            <a:r>
              <a:rPr sz="2400" spc="-125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fix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MOST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issues,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just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right-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click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on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the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choose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“Fix.”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7871" y="1825752"/>
            <a:ext cx="3714749" cy="3342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3A91E8-2D15-438F-B593-2D4510A31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General</a:t>
            </a:r>
            <a:r>
              <a:rPr spc="-114" dirty="0"/>
              <a:t> </a:t>
            </a:r>
            <a:r>
              <a:rPr dirty="0"/>
              <a:t>PDF</a:t>
            </a:r>
            <a:r>
              <a:rPr spc="-135" dirty="0"/>
              <a:t> </a:t>
            </a:r>
            <a:r>
              <a:rPr spc="-10" dirty="0"/>
              <a:t>Document</a:t>
            </a:r>
            <a:r>
              <a:rPr spc="-270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14" y="1821307"/>
            <a:ext cx="7098665" cy="38557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38125" marR="5080" indent="-226060" algn="just">
              <a:lnSpc>
                <a:spcPts val="2160"/>
              </a:lnSpc>
              <a:spcBef>
                <a:spcPts val="370"/>
              </a:spcBef>
              <a:buChar char="•"/>
              <a:tabLst>
                <a:tab pos="241300" algn="l"/>
              </a:tabLst>
            </a:pP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Image-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only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applies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0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were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created 	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scans.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When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fixing,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attempts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convert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images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into 	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combination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readable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text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images.</a:t>
            </a:r>
            <a:endParaRPr sz="2000">
              <a:latin typeface="Arial MT"/>
              <a:cs typeface="Arial MT"/>
            </a:endParaRPr>
          </a:p>
          <a:p>
            <a:pPr marL="238125" marR="8890" indent="-226060" algn="just">
              <a:lnSpc>
                <a:spcPts val="216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Tagged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000" spc="-1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All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0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have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“tagged”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same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way 	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web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pages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are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so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they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read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by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screen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readers.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More 	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details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come!</a:t>
            </a:r>
            <a:endParaRPr sz="2000">
              <a:latin typeface="Arial MT"/>
              <a:cs typeface="Arial MT"/>
            </a:endParaRPr>
          </a:p>
          <a:p>
            <a:pPr marL="241300" marR="727710" indent="-229235">
              <a:lnSpc>
                <a:spcPts val="216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Primary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language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Title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fixed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document properties.</a:t>
            </a:r>
            <a:endParaRPr sz="2000">
              <a:latin typeface="Arial MT"/>
              <a:cs typeface="Arial MT"/>
            </a:endParaRPr>
          </a:p>
          <a:p>
            <a:pPr marL="241300" marR="208915" indent="-229235">
              <a:lnSpc>
                <a:spcPts val="216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Bookmarks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determine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which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tag(s)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are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used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define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bookmarks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PDF.</a:t>
            </a:r>
            <a:endParaRPr sz="2000">
              <a:latin typeface="Arial MT"/>
              <a:cs typeface="Arial MT"/>
            </a:endParaRPr>
          </a:p>
          <a:p>
            <a:pPr marL="241300" marR="175260" indent="-229235">
              <a:lnSpc>
                <a:spcPts val="216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Logical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Reading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Order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Color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Contrast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no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built-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tool,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check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these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manually.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9140" y="1825752"/>
            <a:ext cx="2713469" cy="4187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B1FAFF-C03B-44C9-980D-581FAC965C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Page</a:t>
            </a:r>
            <a:r>
              <a:rPr spc="-105" dirty="0"/>
              <a:t> </a:t>
            </a:r>
            <a:r>
              <a:rPr dirty="0"/>
              <a:t>Content</a:t>
            </a:r>
            <a:r>
              <a:rPr spc="-265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813686"/>
            <a:ext cx="7168515" cy="36080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Tagged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content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any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content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within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that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already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been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tagged.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an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when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been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tagged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all,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but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sometimes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occurs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when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been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tagged 	correctly.</a:t>
            </a:r>
            <a:endParaRPr sz="2400">
              <a:latin typeface="Arial MT"/>
              <a:cs typeface="Arial MT"/>
            </a:endParaRPr>
          </a:p>
          <a:p>
            <a:pPr marL="240029" marR="260350" indent="-227329">
              <a:lnSpc>
                <a:spcPts val="2590"/>
              </a:lnSpc>
              <a:spcBef>
                <a:spcPts val="1015"/>
              </a:spcBef>
              <a:buChar char="•"/>
              <a:tabLst>
                <a:tab pos="241300" algn="l"/>
              </a:tabLst>
            </a:pP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Tab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order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allows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keyboard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users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navigate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through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sections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document.</a:t>
            </a:r>
            <a:endParaRPr sz="2400">
              <a:latin typeface="Arial MT"/>
              <a:cs typeface="Arial MT"/>
            </a:endParaRPr>
          </a:p>
          <a:p>
            <a:pPr marL="240029" marR="581025" indent="-227329">
              <a:lnSpc>
                <a:spcPts val="25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other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items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listed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section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should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not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cause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any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issues,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though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some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may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require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a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manual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check,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such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Navigation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links.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5245" y="1781555"/>
            <a:ext cx="2627375" cy="4216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FB4944-2E8C-48DF-B46F-8C567F312A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Forms</a:t>
            </a:r>
            <a:r>
              <a:rPr spc="-290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13686"/>
            <a:ext cx="6081395" cy="31057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39395" marR="5080" indent="-227329" algn="just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Tagged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form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fields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any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item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part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of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form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field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tagged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such.</a:t>
            </a:r>
            <a:endParaRPr sz="2400">
              <a:latin typeface="Arial MT"/>
              <a:cs typeface="Arial MT"/>
            </a:endParaRPr>
          </a:p>
          <a:p>
            <a:pPr marL="698500" marR="59690" lvl="1" indent="-229235">
              <a:lnSpc>
                <a:spcPts val="2160"/>
              </a:lnSpc>
              <a:spcBef>
                <a:spcPts val="509"/>
              </a:spcBef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Radio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button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checkboxes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grouped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named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accordingly</a:t>
            </a:r>
            <a:endParaRPr sz="2000">
              <a:latin typeface="Arial MT"/>
              <a:cs typeface="Arial MT"/>
            </a:endParaRPr>
          </a:p>
          <a:p>
            <a:pPr marL="239395" marR="139065" indent="-227329">
              <a:lnSpc>
                <a:spcPts val="25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Field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descriptions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form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fields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must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have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appropriate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names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tooltips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supplied.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Generic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names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(e.g.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“Text1”)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will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suffice.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7871" y="1825752"/>
            <a:ext cx="3714750" cy="3829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E9EEC5-B4CB-486A-AE19-745EAC6C7E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Alternate</a:t>
            </a:r>
            <a:r>
              <a:rPr spc="-130" dirty="0"/>
              <a:t> </a:t>
            </a:r>
            <a:r>
              <a:rPr spc="-100" dirty="0"/>
              <a:t>Text</a:t>
            </a:r>
            <a:r>
              <a:rPr spc="-204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813686"/>
            <a:ext cx="6370320" cy="37744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39395" marR="508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Alternate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text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text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supplied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an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alternative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image/graphic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screen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reader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read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someone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with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visual 	impairment.</a:t>
            </a:r>
            <a:endParaRPr sz="2400">
              <a:latin typeface="Arial MT"/>
              <a:cs typeface="Arial MT"/>
            </a:endParaRPr>
          </a:p>
          <a:p>
            <a:pPr marL="698500" marR="39370" lvl="1" indent="-229235">
              <a:lnSpc>
                <a:spcPts val="2160"/>
              </a:lnSpc>
              <a:spcBef>
                <a:spcPts val="509"/>
              </a:spcBef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Figures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alternate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text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only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one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needs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to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0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corrected.</a:t>
            </a:r>
            <a:endParaRPr sz="2000">
              <a:latin typeface="Arial MT"/>
              <a:cs typeface="Arial MT"/>
            </a:endParaRPr>
          </a:p>
          <a:p>
            <a:pPr marL="698500" marR="675005" lvl="1" indent="-229235">
              <a:lnSpc>
                <a:spcPts val="2160"/>
              </a:lnSpc>
              <a:spcBef>
                <a:spcPts val="505"/>
              </a:spcBef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Mark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images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“decorative”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if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they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serve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no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contextual</a:t>
            </a:r>
            <a:r>
              <a:rPr sz="2000" spc="-114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purpose.</a:t>
            </a:r>
            <a:endParaRPr sz="2000">
              <a:latin typeface="Arial MT"/>
              <a:cs typeface="Arial MT"/>
            </a:endParaRPr>
          </a:p>
          <a:p>
            <a:pPr marL="698500" marR="248285" lvl="1" indent="-229235">
              <a:lnSpc>
                <a:spcPts val="2160"/>
              </a:lnSpc>
              <a:spcBef>
                <a:spcPts val="495"/>
              </a:spcBef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Otherwise,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supply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2294A"/>
                </a:solidFill>
                <a:latin typeface="Arial"/>
                <a:cs typeface="Arial"/>
              </a:rPr>
              <a:t>short</a:t>
            </a:r>
            <a:r>
              <a:rPr sz="2000" b="1" spc="-6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textual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description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for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image.</a:t>
            </a:r>
            <a:endParaRPr sz="2000">
              <a:latin typeface="Arial MT"/>
              <a:cs typeface="Arial MT"/>
            </a:endParaRPr>
          </a:p>
          <a:p>
            <a:pPr marL="1155700" marR="403225" lvl="2" indent="-228600">
              <a:lnSpc>
                <a:spcPts val="1939"/>
              </a:lnSpc>
              <a:spcBef>
                <a:spcPts val="509"/>
              </a:spcBef>
              <a:buChar char="•"/>
              <a:tabLst>
                <a:tab pos="1155700" algn="l"/>
              </a:tabLst>
            </a:pP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Examples:</a:t>
            </a:r>
            <a:r>
              <a:rPr sz="18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“Departmental</a:t>
            </a:r>
            <a:r>
              <a:rPr sz="18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logo”,</a:t>
            </a:r>
            <a:r>
              <a:rPr sz="18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“Student</a:t>
            </a:r>
            <a:r>
              <a:rPr sz="18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2294A"/>
                </a:solidFill>
                <a:latin typeface="Arial MT"/>
                <a:cs typeface="Arial MT"/>
              </a:rPr>
              <a:t>sitting </a:t>
            </a: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under</a:t>
            </a:r>
            <a:r>
              <a:rPr sz="18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tree”,</a:t>
            </a:r>
            <a:r>
              <a:rPr sz="1800" spc="-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2294A"/>
                </a:solidFill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2578" y="1690877"/>
            <a:ext cx="3400031" cy="43510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FF9B77-AD7D-470F-8D5B-97AC8FC0F9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Table</a:t>
            </a:r>
            <a:r>
              <a:rPr spc="-229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83968"/>
            <a:ext cx="6517640" cy="3961129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marR="50165" indent="-229235">
              <a:lnSpc>
                <a:spcPct val="8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Rows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row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fall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underneath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main</a:t>
            </a:r>
            <a:r>
              <a:rPr sz="22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table,</a:t>
            </a:r>
            <a:r>
              <a:rPr sz="22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header,</a:t>
            </a:r>
            <a:r>
              <a:rPr sz="22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body,</a:t>
            </a:r>
            <a:r>
              <a:rPr sz="22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or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footer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(not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another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row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or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cell).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 issue.</a:t>
            </a:r>
            <a:endParaRPr sz="2200">
              <a:latin typeface="Arial MT"/>
              <a:cs typeface="Arial MT"/>
            </a:endParaRPr>
          </a:p>
          <a:p>
            <a:pPr marL="241300" marR="5080" indent="-229235">
              <a:lnSpc>
                <a:spcPct val="8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2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TD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header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cell</a:t>
            </a:r>
            <a:r>
              <a:rPr sz="22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data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cell</a:t>
            </a:r>
            <a:r>
              <a:rPr sz="22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fall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under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row.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2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an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issue.</a:t>
            </a:r>
            <a:endParaRPr sz="2200">
              <a:latin typeface="Arial MT"/>
              <a:cs typeface="Arial MT"/>
            </a:endParaRPr>
          </a:p>
          <a:p>
            <a:pPr marL="241300" marR="300355" indent="-228600" algn="just">
              <a:lnSpc>
                <a:spcPts val="2110"/>
              </a:lnSpc>
              <a:spcBef>
                <a:spcPts val="985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Headers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all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tables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have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header.</a:t>
            </a:r>
            <a:r>
              <a:rPr sz="22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is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achieved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by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having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at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least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header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cell</a:t>
            </a:r>
            <a:r>
              <a:rPr sz="22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first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row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table.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Frequent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issue.</a:t>
            </a:r>
            <a:endParaRPr sz="2200">
              <a:latin typeface="Arial MT"/>
              <a:cs typeface="Arial MT"/>
            </a:endParaRPr>
          </a:p>
          <a:p>
            <a:pPr marL="241300" marR="15240" indent="-229235">
              <a:lnSpc>
                <a:spcPts val="211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Regularity</a:t>
            </a:r>
            <a:r>
              <a:rPr sz="22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tables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have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same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number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of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columns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row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rows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column.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Sometimes</a:t>
            </a:r>
            <a:r>
              <a:rPr sz="22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22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issue.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8768" y="1690878"/>
            <a:ext cx="3403841" cy="43510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E57DA-2ECA-460F-9A39-26593BA66F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</a:t>
            </a:r>
            <a:r>
              <a:rPr spc="-245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813686"/>
            <a:ext cx="6177280" cy="28232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39395" marR="508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items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item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(tagged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“LI”)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child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(tagged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“L”).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This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commonly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when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another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tag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(often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“Sect”)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between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“L”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and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“LI”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tag.</a:t>
            </a:r>
            <a:endParaRPr sz="2400">
              <a:latin typeface="Arial MT"/>
              <a:cs typeface="Arial MT"/>
            </a:endParaRPr>
          </a:p>
          <a:p>
            <a:pPr marL="239395" marR="436245" indent="-227329">
              <a:lnSpc>
                <a:spcPts val="2590"/>
              </a:lnSpc>
              <a:spcBef>
                <a:spcPts val="101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Lbl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Lbody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item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only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contain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label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(“Lbl”)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or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list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item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body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(“LBody”).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6066" y="1825752"/>
            <a:ext cx="3686555" cy="3819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D7A65C-5D3C-4ACA-9762-2CFB243E31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Headings</a:t>
            </a:r>
            <a:r>
              <a:rPr spc="-235" dirty="0"/>
              <a:t> </a:t>
            </a:r>
            <a:r>
              <a:rPr spc="-10" dirty="0"/>
              <a:t>Accessibility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13686"/>
            <a:ext cx="6170295" cy="30594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39395" marR="508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0665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Appropriate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nesting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headers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be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applied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order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first-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level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heading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down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sixth-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level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heading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(if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applicable).</a:t>
            </a:r>
            <a:endParaRPr sz="2400">
              <a:latin typeface="Arial MT"/>
              <a:cs typeface="Arial MT"/>
            </a:endParaRPr>
          </a:p>
          <a:p>
            <a:pPr marL="697865" marR="567055" lvl="1" indent="-228600">
              <a:lnSpc>
                <a:spcPts val="2160"/>
              </a:lnSpc>
              <a:spcBef>
                <a:spcPts val="509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Think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like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outline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heading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levels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should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skipped.</a:t>
            </a:r>
            <a:endParaRPr sz="2000">
              <a:latin typeface="Arial MT"/>
              <a:cs typeface="Arial MT"/>
            </a:endParaRPr>
          </a:p>
          <a:p>
            <a:pPr marL="697865" marR="203835" lvl="1" indent="-229235">
              <a:lnSpc>
                <a:spcPts val="2160"/>
              </a:lnSpc>
              <a:spcBef>
                <a:spcPts val="500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same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issue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occurs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when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checking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web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page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accessibility.</a:t>
            </a:r>
            <a:endParaRPr sz="2000">
              <a:latin typeface="Arial MT"/>
              <a:cs typeface="Arial MT"/>
            </a:endParaRPr>
          </a:p>
          <a:p>
            <a:pPr marL="239395" marR="565150" indent="-227329">
              <a:lnSpc>
                <a:spcPts val="2590"/>
              </a:lnSpc>
              <a:spcBef>
                <a:spcPts val="994"/>
              </a:spcBef>
              <a:buChar char="•"/>
              <a:tabLst>
                <a:tab pos="240665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One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issue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will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appear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here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all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must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have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first-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level</a:t>
            </a:r>
            <a:r>
              <a:rPr sz="24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heading.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5116" y="1825752"/>
            <a:ext cx="3667493" cy="3438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586F95-5310-4D65-8857-BB83561A84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158"/>
            <a:ext cx="12890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Tags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813686"/>
            <a:ext cx="8150859" cy="40189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498475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with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web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page,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are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used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identify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parts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a 	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PDF.</a:t>
            </a:r>
            <a:endParaRPr sz="2400">
              <a:latin typeface="Arial MT"/>
              <a:cs typeface="Arial MT"/>
            </a:endParaRPr>
          </a:p>
          <a:p>
            <a:pPr marL="240029" marR="273050" indent="-227329">
              <a:lnSpc>
                <a:spcPts val="259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allow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screen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readers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other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assistive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devices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to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“read”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person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needing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assistance.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ts val="25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are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created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when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created.</a:t>
            </a:r>
            <a:r>
              <a:rPr sz="2400" spc="-1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1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PDF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does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not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contain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tagged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within</a:t>
            </a:r>
            <a:r>
              <a:rPr sz="2400" spc="-1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by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using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“Autotag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Document”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option.</a:t>
            </a:r>
            <a:endParaRPr sz="2400">
              <a:latin typeface="Arial MT"/>
              <a:cs typeface="Arial MT"/>
            </a:endParaRPr>
          </a:p>
          <a:p>
            <a:pPr marL="240029" marR="34671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addition,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tagged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by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“fixing”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“Tagged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content”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error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after</a:t>
            </a:r>
            <a:r>
              <a:rPr sz="24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running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24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accessibility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check.</a:t>
            </a:r>
            <a:endParaRPr sz="2400">
              <a:latin typeface="Arial MT"/>
              <a:cs typeface="Arial MT"/>
            </a:endParaRPr>
          </a:p>
          <a:p>
            <a:pPr marL="697865" marR="407034" lvl="1" indent="-228600">
              <a:lnSpc>
                <a:spcPts val="2160"/>
              </a:lnSpc>
              <a:spcBef>
                <a:spcPts val="505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Sometimes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this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doesn’t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work,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“autotagging”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best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option.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4866" y="1690878"/>
            <a:ext cx="1857754" cy="3657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7236B1-4439-4A8F-9DEC-E797770FE6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158"/>
            <a:ext cx="12890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Tags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813686"/>
            <a:ext cx="6273800" cy="36347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2230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114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Panel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1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shows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how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a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currently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tagged.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ts val="259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added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or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modified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within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the 	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Panel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without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changing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visible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PDF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(the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way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it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appears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everyone).</a:t>
            </a:r>
            <a:endParaRPr sz="2400">
              <a:latin typeface="Arial MT"/>
              <a:cs typeface="Arial MT"/>
            </a:endParaRPr>
          </a:p>
          <a:p>
            <a:pPr marL="240029" marR="345440" indent="-227329">
              <a:lnSpc>
                <a:spcPts val="25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Working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within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1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Panel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allows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for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multiple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accessibility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problems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fixed:</a:t>
            </a:r>
            <a:endParaRPr sz="24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Headers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(additions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sequencing)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54"/>
              </a:spcBef>
              <a:buChar char="•"/>
              <a:tabLst>
                <a:tab pos="697865" algn="l"/>
              </a:tabLst>
            </a:pPr>
            <a:r>
              <a:rPr sz="2000" spc="-30" dirty="0">
                <a:solidFill>
                  <a:srgbClr val="12294A"/>
                </a:solidFill>
                <a:latin typeface="Arial MT"/>
                <a:cs typeface="Arial MT"/>
              </a:rPr>
              <a:t>Tables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(headers</a:t>
            </a:r>
            <a:r>
              <a:rPr sz="20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0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regularity)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54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Lists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(structure)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3780" y="1825752"/>
            <a:ext cx="3688829" cy="3005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18248F-EB0E-4607-81AA-70D3B3A74A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158"/>
            <a:ext cx="12890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Tags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13686"/>
            <a:ext cx="6049010" cy="40176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37465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Unlike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browsers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web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pages,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tags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named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just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about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anything!</a:t>
            </a:r>
            <a:endParaRPr sz="2400">
              <a:latin typeface="Arial MT"/>
              <a:cs typeface="Arial MT"/>
            </a:endParaRPr>
          </a:p>
          <a:p>
            <a:pPr marL="240029" marR="328930" indent="-227329">
              <a:lnSpc>
                <a:spcPts val="259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Programs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that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generate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frequently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“make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up”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their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own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tags.</a:t>
            </a:r>
            <a:endParaRPr sz="2400">
              <a:latin typeface="Arial MT"/>
              <a:cs typeface="Arial MT"/>
            </a:endParaRPr>
          </a:p>
          <a:p>
            <a:pPr marL="698500" marR="43180" lvl="1" indent="-229235">
              <a:lnSpc>
                <a:spcPts val="2160"/>
              </a:lnSpc>
              <a:spcBef>
                <a:spcPts val="500"/>
              </a:spcBef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image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right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generated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by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PowerPoint.</a:t>
            </a:r>
            <a:endParaRPr sz="2000">
              <a:latin typeface="Arial MT"/>
              <a:cs typeface="Arial MT"/>
            </a:endParaRPr>
          </a:p>
          <a:p>
            <a:pPr marL="240029" marR="173355" indent="-227329">
              <a:lnSpc>
                <a:spcPts val="25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Accessibility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12294A"/>
                </a:solidFill>
                <a:latin typeface="Arial"/>
                <a:cs typeface="Arial"/>
              </a:rPr>
              <a:t>not</a:t>
            </a:r>
            <a:r>
              <a:rPr sz="2400" i="1" spc="-7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determined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by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fully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tagged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structure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PDF.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ts val="25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1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just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has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pass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all</a:t>
            </a:r>
            <a:r>
              <a:rPr sz="24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accessibility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checks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400" spc="-1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regarding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(headers,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tables,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lists).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9866" y="1825752"/>
            <a:ext cx="3762743" cy="4000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CA188E-5748-40B0-8B61-65BBC031BD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158"/>
            <a:ext cx="12890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Tags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87630" indent="-227329">
              <a:lnSpc>
                <a:spcPts val="2300"/>
              </a:lnSpc>
              <a:spcBef>
                <a:spcPts val="660"/>
              </a:spcBef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biggest</a:t>
            </a:r>
            <a:r>
              <a:rPr spc="-50" dirty="0"/>
              <a:t> </a:t>
            </a:r>
            <a:r>
              <a:rPr dirty="0"/>
              <a:t>obstacle</a:t>
            </a:r>
            <a:r>
              <a:rPr spc="-5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making</a:t>
            </a:r>
            <a:r>
              <a:rPr spc="-5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PDF</a:t>
            </a:r>
            <a:r>
              <a:rPr spc="-70" dirty="0"/>
              <a:t> </a:t>
            </a:r>
            <a:r>
              <a:rPr dirty="0"/>
              <a:t>accessible</a:t>
            </a:r>
            <a:r>
              <a:rPr spc="-45" dirty="0"/>
              <a:t> </a:t>
            </a:r>
            <a:r>
              <a:rPr dirty="0"/>
              <a:t>revolves</a:t>
            </a:r>
            <a:r>
              <a:rPr spc="-50" dirty="0"/>
              <a:t> </a:t>
            </a:r>
            <a:r>
              <a:rPr dirty="0"/>
              <a:t>around</a:t>
            </a:r>
            <a:r>
              <a:rPr spc="-45" dirty="0"/>
              <a:t> </a:t>
            </a:r>
            <a:r>
              <a:rPr spc="-10" dirty="0"/>
              <a:t>tagging 	</a:t>
            </a:r>
            <a:r>
              <a:rPr dirty="0"/>
              <a:t>older</a:t>
            </a:r>
            <a:r>
              <a:rPr spc="-75" dirty="0"/>
              <a:t> </a:t>
            </a:r>
            <a:r>
              <a:rPr dirty="0"/>
              <a:t>and/or</a:t>
            </a:r>
            <a:r>
              <a:rPr spc="-75" dirty="0"/>
              <a:t> </a:t>
            </a:r>
            <a:r>
              <a:rPr dirty="0"/>
              <a:t>larger</a:t>
            </a:r>
            <a:r>
              <a:rPr spc="-70" dirty="0"/>
              <a:t> </a:t>
            </a:r>
            <a:r>
              <a:rPr spc="-10" dirty="0"/>
              <a:t>PDFs.</a:t>
            </a:r>
          </a:p>
          <a:p>
            <a:pPr marL="240029" marR="1396365" indent="-227329">
              <a:lnSpc>
                <a:spcPts val="23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tagging</a:t>
            </a:r>
            <a:r>
              <a:rPr spc="-25" dirty="0"/>
              <a:t> </a:t>
            </a:r>
            <a:r>
              <a:rPr dirty="0"/>
              <a:t>process</a:t>
            </a:r>
            <a:r>
              <a:rPr spc="-30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take</a:t>
            </a:r>
            <a:r>
              <a:rPr spc="-5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i="1" dirty="0">
                <a:latin typeface="Arial"/>
                <a:cs typeface="Arial"/>
              </a:rPr>
              <a:t>long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dirty="0"/>
              <a:t>time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PDFs</a:t>
            </a:r>
            <a:r>
              <a:rPr spc="-5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10" dirty="0"/>
              <a:t>complex 	</a:t>
            </a:r>
            <a:r>
              <a:rPr dirty="0"/>
              <a:t>charts/graphics</a:t>
            </a:r>
            <a:r>
              <a:rPr spc="-40" dirty="0"/>
              <a:t> </a:t>
            </a:r>
            <a:r>
              <a:rPr dirty="0"/>
              <a:t>or</a:t>
            </a:r>
            <a:r>
              <a:rPr spc="-60" dirty="0"/>
              <a:t> 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have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large</a:t>
            </a:r>
            <a:r>
              <a:rPr spc="-50" dirty="0"/>
              <a:t> </a:t>
            </a:r>
            <a:r>
              <a:rPr dirty="0"/>
              <a:t>number</a:t>
            </a:r>
            <a:r>
              <a:rPr spc="-4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pages.</a:t>
            </a:r>
          </a:p>
          <a:p>
            <a:pPr marL="239395" marR="5080" indent="-227329">
              <a:lnSpc>
                <a:spcPct val="80000"/>
              </a:lnSpc>
              <a:spcBef>
                <a:spcPts val="1019"/>
              </a:spcBef>
              <a:buChar char="•"/>
              <a:tabLst>
                <a:tab pos="241300" algn="l"/>
              </a:tabLst>
            </a:pPr>
            <a:r>
              <a:rPr spc="-35" dirty="0"/>
              <a:t>Tables</a:t>
            </a:r>
            <a:r>
              <a:rPr spc="-85" dirty="0"/>
              <a:t> </a:t>
            </a:r>
            <a:r>
              <a:rPr dirty="0"/>
              <a:t>frequently</a:t>
            </a:r>
            <a:r>
              <a:rPr spc="-70" dirty="0"/>
              <a:t> </a:t>
            </a:r>
            <a:r>
              <a:rPr dirty="0"/>
              <a:t>are</a:t>
            </a:r>
            <a:r>
              <a:rPr spc="-85" dirty="0"/>
              <a:t> </a:t>
            </a:r>
            <a:r>
              <a:rPr spc="-10" dirty="0"/>
              <a:t>mis-</a:t>
            </a:r>
            <a:r>
              <a:rPr dirty="0"/>
              <a:t>tagged,</a:t>
            </a:r>
            <a:r>
              <a:rPr spc="-75" dirty="0"/>
              <a:t> </a:t>
            </a:r>
            <a:r>
              <a:rPr dirty="0"/>
              <a:t>especially</a:t>
            </a:r>
            <a:r>
              <a:rPr spc="-70" dirty="0"/>
              <a:t> </a:t>
            </a:r>
            <a:r>
              <a:rPr dirty="0"/>
              <a:t>when</a:t>
            </a:r>
            <a:r>
              <a:rPr spc="-85" dirty="0"/>
              <a:t> </a:t>
            </a:r>
            <a:r>
              <a:rPr dirty="0"/>
              <a:t>split</a:t>
            </a:r>
            <a:r>
              <a:rPr spc="-90" dirty="0"/>
              <a:t> </a:t>
            </a:r>
            <a:r>
              <a:rPr dirty="0"/>
              <a:t>between</a:t>
            </a:r>
            <a:r>
              <a:rPr spc="-70" dirty="0"/>
              <a:t> </a:t>
            </a:r>
            <a:r>
              <a:rPr spc="-10" dirty="0"/>
              <a:t>pages. 	</a:t>
            </a:r>
            <a:r>
              <a:rPr spc="-40" dirty="0"/>
              <a:t>Table</a:t>
            </a:r>
            <a:r>
              <a:rPr spc="-55" dirty="0"/>
              <a:t> </a:t>
            </a:r>
            <a:r>
              <a:rPr dirty="0"/>
              <a:t>header</a:t>
            </a:r>
            <a:r>
              <a:rPr spc="-40" dirty="0"/>
              <a:t> </a:t>
            </a:r>
            <a:r>
              <a:rPr dirty="0"/>
              <a:t>tags</a:t>
            </a:r>
            <a:r>
              <a:rPr spc="-60" dirty="0"/>
              <a:t> </a:t>
            </a:r>
            <a:r>
              <a:rPr dirty="0"/>
              <a:t>often</a:t>
            </a:r>
            <a:r>
              <a:rPr spc="-60" dirty="0"/>
              <a:t> </a:t>
            </a:r>
            <a:r>
              <a:rPr dirty="0"/>
              <a:t>have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be</a:t>
            </a:r>
            <a:r>
              <a:rPr spc="-60" dirty="0"/>
              <a:t> </a:t>
            </a:r>
            <a:r>
              <a:rPr dirty="0"/>
              <a:t>added.</a:t>
            </a:r>
            <a:r>
              <a:rPr spc="-40" dirty="0"/>
              <a:t> </a:t>
            </a:r>
            <a:r>
              <a:rPr dirty="0"/>
              <a:t>Some</a:t>
            </a:r>
            <a:r>
              <a:rPr spc="-60" dirty="0"/>
              <a:t> </a:t>
            </a:r>
            <a:r>
              <a:rPr dirty="0"/>
              <a:t>tables</a:t>
            </a:r>
            <a:r>
              <a:rPr spc="-50" dirty="0"/>
              <a:t> </a:t>
            </a:r>
            <a:r>
              <a:rPr dirty="0"/>
              <a:t>may</a:t>
            </a:r>
            <a:r>
              <a:rPr spc="-55" dirty="0"/>
              <a:t> </a:t>
            </a:r>
            <a:r>
              <a:rPr dirty="0"/>
              <a:t>not</a:t>
            </a:r>
            <a:r>
              <a:rPr spc="-60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spc="-10" dirty="0"/>
              <a:t>tagged 	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tables,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vice</a:t>
            </a:r>
            <a:r>
              <a:rPr spc="-50" dirty="0"/>
              <a:t> </a:t>
            </a:r>
            <a:r>
              <a:rPr spc="-10" dirty="0"/>
              <a:t>versa.</a:t>
            </a:r>
          </a:p>
          <a:p>
            <a:pPr marL="240029" marR="412115" indent="-227329">
              <a:lnSpc>
                <a:spcPts val="2310"/>
              </a:lnSpc>
              <a:spcBef>
                <a:spcPts val="975"/>
              </a:spcBef>
              <a:buChar char="•"/>
              <a:tabLst>
                <a:tab pos="241300" algn="l"/>
              </a:tabLst>
            </a:pPr>
            <a:r>
              <a:rPr dirty="0"/>
              <a:t>Some</a:t>
            </a:r>
            <a:r>
              <a:rPr spc="-50" dirty="0"/>
              <a:t> </a:t>
            </a:r>
            <a:r>
              <a:rPr dirty="0"/>
              <a:t>parts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PDF</a:t>
            </a:r>
            <a:r>
              <a:rPr spc="-45" dirty="0"/>
              <a:t> </a:t>
            </a:r>
            <a:r>
              <a:rPr dirty="0"/>
              <a:t>may</a:t>
            </a:r>
            <a:r>
              <a:rPr spc="-50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marked</a:t>
            </a:r>
            <a:r>
              <a:rPr spc="-3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images</a:t>
            </a:r>
            <a:r>
              <a:rPr spc="-30" dirty="0"/>
              <a:t> </a:t>
            </a:r>
            <a:r>
              <a:rPr spc="-20" dirty="0"/>
              <a:t>because</a:t>
            </a:r>
            <a:r>
              <a:rPr spc="-150" dirty="0"/>
              <a:t> </a:t>
            </a:r>
            <a:r>
              <a:rPr dirty="0"/>
              <a:t>Acrobat</a:t>
            </a:r>
            <a:r>
              <a:rPr spc="-40" dirty="0"/>
              <a:t> </a:t>
            </a:r>
            <a:r>
              <a:rPr dirty="0"/>
              <a:t>has</a:t>
            </a:r>
            <a:r>
              <a:rPr spc="-35" dirty="0"/>
              <a:t> </a:t>
            </a:r>
            <a:r>
              <a:rPr spc="-50" dirty="0"/>
              <a:t>a 	</a:t>
            </a:r>
            <a:r>
              <a:rPr dirty="0"/>
              <a:t>difficult</a:t>
            </a:r>
            <a:r>
              <a:rPr spc="-105" dirty="0"/>
              <a:t> </a:t>
            </a:r>
            <a:r>
              <a:rPr dirty="0"/>
              <a:t>time</a:t>
            </a:r>
            <a:r>
              <a:rPr spc="-100" dirty="0"/>
              <a:t> </a:t>
            </a:r>
            <a:r>
              <a:rPr dirty="0"/>
              <a:t>evaluating</a:t>
            </a:r>
            <a:r>
              <a:rPr spc="-85" dirty="0"/>
              <a:t> </a:t>
            </a:r>
            <a:r>
              <a:rPr spc="-10" dirty="0"/>
              <a:t>them.</a:t>
            </a:r>
          </a:p>
          <a:p>
            <a:pPr marL="240029" marR="754380" indent="-227329">
              <a:lnSpc>
                <a:spcPts val="231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dirty="0"/>
              <a:t>Acrobat</a:t>
            </a:r>
            <a:r>
              <a:rPr spc="-55" dirty="0"/>
              <a:t> </a:t>
            </a:r>
            <a:r>
              <a:rPr dirty="0"/>
              <a:t>will</a:t>
            </a:r>
            <a:r>
              <a:rPr spc="-65" dirty="0"/>
              <a:t> </a:t>
            </a:r>
            <a:r>
              <a:rPr dirty="0"/>
              <a:t>frequently</a:t>
            </a:r>
            <a:r>
              <a:rPr spc="-45" dirty="0"/>
              <a:t> </a:t>
            </a:r>
            <a:r>
              <a:rPr dirty="0"/>
              <a:t>evaluate</a:t>
            </a:r>
            <a:r>
              <a:rPr spc="-50" dirty="0"/>
              <a:t> </a:t>
            </a:r>
            <a:r>
              <a:rPr dirty="0"/>
              <a:t>bolded</a:t>
            </a:r>
            <a:r>
              <a:rPr spc="-40" dirty="0"/>
              <a:t> </a:t>
            </a:r>
            <a:r>
              <a:rPr dirty="0"/>
              <a:t>text</a:t>
            </a:r>
            <a:r>
              <a:rPr spc="-70" dirty="0"/>
              <a:t> </a:t>
            </a:r>
            <a:r>
              <a:rPr dirty="0"/>
              <a:t>that’s</a:t>
            </a:r>
            <a:r>
              <a:rPr spc="-70" dirty="0"/>
              <a:t> </a:t>
            </a:r>
            <a:r>
              <a:rPr dirty="0"/>
              <a:t>at</a:t>
            </a:r>
            <a:r>
              <a:rPr spc="-7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larger</a:t>
            </a:r>
            <a:r>
              <a:rPr spc="-50" dirty="0"/>
              <a:t> </a:t>
            </a:r>
            <a:r>
              <a:rPr dirty="0"/>
              <a:t>size</a:t>
            </a:r>
            <a:r>
              <a:rPr spc="-60" dirty="0"/>
              <a:t> </a:t>
            </a:r>
            <a:r>
              <a:rPr dirty="0"/>
              <a:t>as</a:t>
            </a:r>
            <a:r>
              <a:rPr spc="-70" dirty="0"/>
              <a:t> </a:t>
            </a:r>
            <a:r>
              <a:rPr spc="-50" dirty="0"/>
              <a:t>a 	</a:t>
            </a:r>
            <a:r>
              <a:rPr dirty="0"/>
              <a:t>header</a:t>
            </a:r>
            <a:r>
              <a:rPr spc="-3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guess</a:t>
            </a:r>
            <a:r>
              <a:rPr spc="-40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header</a:t>
            </a:r>
            <a:r>
              <a:rPr spc="-30" dirty="0"/>
              <a:t> </a:t>
            </a:r>
            <a:r>
              <a:rPr dirty="0"/>
              <a:t>level</a:t>
            </a:r>
            <a:r>
              <a:rPr spc="-45" dirty="0"/>
              <a:t> </a:t>
            </a:r>
            <a:r>
              <a:rPr dirty="0"/>
              <a:t>it</a:t>
            </a:r>
            <a:r>
              <a:rPr spc="-60" dirty="0"/>
              <a:t> </a:t>
            </a:r>
            <a:r>
              <a:rPr spc="-25" dirty="0"/>
              <a:t>is.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1DF44-E1EF-40D3-A9B2-40F446667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Making</a:t>
            </a:r>
            <a:r>
              <a:rPr spc="-180" dirty="0"/>
              <a:t> </a:t>
            </a:r>
            <a:r>
              <a:rPr spc="-35" dirty="0"/>
              <a:t>Tagging</a:t>
            </a:r>
            <a:r>
              <a:rPr spc="-175" dirty="0"/>
              <a:t> </a:t>
            </a:r>
            <a:r>
              <a:rPr spc="-10" dirty="0"/>
              <a:t>Easier!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</a:tabLst>
            </a:pPr>
            <a:r>
              <a:rPr dirty="0"/>
              <a:t>If</a:t>
            </a:r>
            <a:r>
              <a:rPr spc="-6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PDF</a:t>
            </a:r>
            <a:r>
              <a:rPr spc="-60" dirty="0"/>
              <a:t> </a:t>
            </a:r>
            <a:r>
              <a:rPr dirty="0"/>
              <a:t>has</a:t>
            </a:r>
            <a:r>
              <a:rPr spc="-4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really</a:t>
            </a:r>
            <a:r>
              <a:rPr spc="-40" dirty="0"/>
              <a:t> </a:t>
            </a:r>
            <a:r>
              <a:rPr dirty="0"/>
              <a:t>messy</a:t>
            </a:r>
            <a:r>
              <a:rPr spc="-40" dirty="0"/>
              <a:t> </a:t>
            </a:r>
            <a:r>
              <a:rPr dirty="0"/>
              <a:t>tag</a:t>
            </a:r>
            <a:r>
              <a:rPr spc="-50" dirty="0"/>
              <a:t> </a:t>
            </a:r>
            <a:r>
              <a:rPr dirty="0"/>
              <a:t>structure</a:t>
            </a:r>
            <a:r>
              <a:rPr spc="-45" dirty="0"/>
              <a:t> </a:t>
            </a:r>
            <a:r>
              <a:rPr dirty="0"/>
              <a:t>after</a:t>
            </a:r>
            <a:r>
              <a:rPr spc="-50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dirty="0"/>
              <a:t>initial</a:t>
            </a:r>
            <a:r>
              <a:rPr spc="-35" dirty="0"/>
              <a:t> </a:t>
            </a:r>
            <a:r>
              <a:rPr dirty="0"/>
              <a:t>accessibility</a:t>
            </a:r>
            <a:r>
              <a:rPr spc="-30" dirty="0"/>
              <a:t> </a:t>
            </a:r>
            <a:r>
              <a:rPr spc="-10" dirty="0"/>
              <a:t>check, 	</a:t>
            </a:r>
            <a:r>
              <a:rPr spc="-20" dirty="0"/>
              <a:t>re-</a:t>
            </a:r>
            <a:r>
              <a:rPr dirty="0"/>
              <a:t>tag</a:t>
            </a:r>
            <a:r>
              <a:rPr spc="-7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document</a:t>
            </a:r>
            <a:r>
              <a:rPr spc="-60" dirty="0"/>
              <a:t> </a:t>
            </a:r>
            <a:r>
              <a:rPr dirty="0"/>
              <a:t>using</a:t>
            </a:r>
            <a:r>
              <a:rPr spc="-7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“Autotag</a:t>
            </a:r>
            <a:r>
              <a:rPr spc="-65" dirty="0"/>
              <a:t> </a:t>
            </a:r>
            <a:r>
              <a:rPr dirty="0"/>
              <a:t>document”</a:t>
            </a:r>
            <a:r>
              <a:rPr spc="-65" dirty="0"/>
              <a:t> </a:t>
            </a:r>
            <a:r>
              <a:rPr spc="-10" dirty="0"/>
              <a:t>option.</a:t>
            </a:r>
          </a:p>
          <a:p>
            <a:pPr marL="697865" lvl="1" indent="-227965">
              <a:lnSpc>
                <a:spcPct val="100000"/>
              </a:lnSpc>
              <a:spcBef>
                <a:spcPts val="234"/>
              </a:spcBef>
              <a:buChar char="•"/>
              <a:tabLst>
                <a:tab pos="697865" algn="l"/>
              </a:tabLst>
            </a:pP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Auto-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generated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tags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</a:t>
            </a:r>
            <a:r>
              <a:rPr sz="2000" spc="-1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Acrobat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are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usually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better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than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what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other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programs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produce.</a:t>
            </a:r>
            <a:endParaRPr sz="20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260"/>
              </a:spcBef>
              <a:buChar char="•"/>
              <a:tabLst>
                <a:tab pos="697865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Manual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intervention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may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still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be</a:t>
            </a:r>
            <a:r>
              <a:rPr sz="20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necessary,</a:t>
            </a:r>
            <a:r>
              <a:rPr sz="20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especially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with</a:t>
            </a:r>
            <a:r>
              <a:rPr sz="20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older/complex</a:t>
            </a:r>
            <a:r>
              <a:rPr sz="20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documents.</a:t>
            </a:r>
            <a:endParaRPr sz="2000">
              <a:latin typeface="Arial MT"/>
              <a:cs typeface="Arial MT"/>
            </a:endParaRPr>
          </a:p>
          <a:p>
            <a:pPr marL="240029" marR="90170" indent="-227329">
              <a:lnSpc>
                <a:spcPts val="2590"/>
              </a:lnSpc>
              <a:spcBef>
                <a:spcPts val="1030"/>
              </a:spcBef>
              <a:buChar char="•"/>
              <a:tabLst>
                <a:tab pos="241300" algn="l"/>
              </a:tabLst>
            </a:pPr>
            <a:r>
              <a:rPr dirty="0"/>
              <a:t>If</a:t>
            </a:r>
            <a:r>
              <a:rPr spc="-70" dirty="0"/>
              <a:t> </a:t>
            </a:r>
            <a:r>
              <a:rPr dirty="0"/>
              <a:t>any</a:t>
            </a:r>
            <a:r>
              <a:rPr spc="-40" dirty="0"/>
              <a:t> </a:t>
            </a:r>
            <a:r>
              <a:rPr dirty="0"/>
              <a:t>part</a:t>
            </a:r>
            <a:r>
              <a:rPr spc="-5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dirty="0"/>
              <a:t>document</a:t>
            </a:r>
            <a:r>
              <a:rPr spc="-35" dirty="0"/>
              <a:t> </a:t>
            </a:r>
            <a:r>
              <a:rPr dirty="0"/>
              <a:t>contains</a:t>
            </a:r>
            <a:r>
              <a:rPr spc="-40" dirty="0"/>
              <a:t> </a:t>
            </a:r>
            <a:r>
              <a:rPr dirty="0"/>
              <a:t>content</a:t>
            </a:r>
            <a:r>
              <a:rPr spc="-45" dirty="0"/>
              <a:t> 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tagged,</a:t>
            </a:r>
            <a:r>
              <a:rPr spc="-45" dirty="0"/>
              <a:t> </a:t>
            </a:r>
            <a:r>
              <a:rPr spc="-20" dirty="0"/>
              <a:t>re-</a:t>
            </a:r>
            <a:r>
              <a:rPr dirty="0"/>
              <a:t>tag</a:t>
            </a:r>
            <a:r>
              <a:rPr spc="-45" dirty="0"/>
              <a:t> </a:t>
            </a:r>
            <a:r>
              <a:rPr spc="-25" dirty="0"/>
              <a:t>the 	</a:t>
            </a:r>
            <a:r>
              <a:rPr spc="-10" dirty="0"/>
              <a:t>document.</a:t>
            </a:r>
          </a:p>
          <a:p>
            <a:pPr marL="240029" marR="709295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/>
              <a:t>Insert</a:t>
            </a:r>
            <a:r>
              <a:rPr spc="-70" dirty="0"/>
              <a:t> </a:t>
            </a:r>
            <a:r>
              <a:rPr dirty="0"/>
              <a:t>your</a:t>
            </a:r>
            <a:r>
              <a:rPr spc="-50" dirty="0"/>
              <a:t> </a:t>
            </a:r>
            <a:r>
              <a:rPr dirty="0"/>
              <a:t>own</a:t>
            </a:r>
            <a:r>
              <a:rPr spc="-60" dirty="0"/>
              <a:t> </a:t>
            </a:r>
            <a:r>
              <a:rPr dirty="0"/>
              <a:t>tags</a:t>
            </a:r>
            <a:r>
              <a:rPr spc="-60" dirty="0"/>
              <a:t> </a:t>
            </a:r>
            <a:r>
              <a:rPr dirty="0"/>
              <a:t>only</a:t>
            </a:r>
            <a:r>
              <a:rPr spc="-55" dirty="0"/>
              <a:t> </a:t>
            </a:r>
            <a:r>
              <a:rPr dirty="0"/>
              <a:t>when</a:t>
            </a:r>
            <a:r>
              <a:rPr spc="-55" dirty="0"/>
              <a:t> </a:t>
            </a:r>
            <a:r>
              <a:rPr dirty="0"/>
              <a:t>absolutely</a:t>
            </a:r>
            <a:r>
              <a:rPr spc="-40" dirty="0"/>
              <a:t> </a:t>
            </a:r>
            <a:r>
              <a:rPr spc="-25" dirty="0"/>
              <a:t>necessary.</a:t>
            </a:r>
            <a:r>
              <a:rPr spc="-85" dirty="0"/>
              <a:t> </a:t>
            </a:r>
            <a:r>
              <a:rPr dirty="0"/>
              <a:t>This</a:t>
            </a:r>
            <a:r>
              <a:rPr spc="-7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/>
              <a:t>usually 	</a:t>
            </a:r>
            <a:r>
              <a:rPr dirty="0"/>
              <a:t>needed</a:t>
            </a:r>
            <a:r>
              <a:rPr spc="-3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25" dirty="0"/>
              <a:t>image-</a:t>
            </a:r>
            <a:r>
              <a:rPr dirty="0"/>
              <a:t>only</a:t>
            </a:r>
            <a:r>
              <a:rPr spc="-20" dirty="0"/>
              <a:t> </a:t>
            </a:r>
            <a:r>
              <a:rPr dirty="0"/>
              <a:t>PDFs</a:t>
            </a:r>
            <a:r>
              <a:rPr spc="-5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don’t</a:t>
            </a:r>
            <a:r>
              <a:rPr spc="-35" dirty="0"/>
              <a:t> </a:t>
            </a:r>
            <a:r>
              <a:rPr dirty="0"/>
              <a:t>have</a:t>
            </a:r>
            <a:r>
              <a:rPr spc="-40" dirty="0"/>
              <a:t> </a:t>
            </a:r>
            <a:r>
              <a:rPr dirty="0"/>
              <a:t>headers</a:t>
            </a:r>
            <a:r>
              <a:rPr spc="-2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well</a:t>
            </a:r>
            <a:r>
              <a:rPr spc="-35" dirty="0"/>
              <a:t> </a:t>
            </a:r>
            <a:r>
              <a:rPr dirty="0"/>
              <a:t>as</a:t>
            </a:r>
            <a:r>
              <a:rPr spc="-40" dirty="0"/>
              <a:t> </a:t>
            </a:r>
            <a:r>
              <a:rPr spc="-10" dirty="0"/>
              <a:t>fixing 	</a:t>
            </a:r>
            <a:r>
              <a:rPr dirty="0"/>
              <a:t>irregular</a:t>
            </a:r>
            <a:r>
              <a:rPr spc="-60" dirty="0"/>
              <a:t> </a:t>
            </a:r>
            <a:r>
              <a:rPr dirty="0"/>
              <a:t>tables</a:t>
            </a:r>
            <a:r>
              <a:rPr spc="-70" dirty="0"/>
              <a:t> </a:t>
            </a:r>
            <a:r>
              <a:rPr dirty="0"/>
              <a:t>(adding</a:t>
            </a:r>
            <a:r>
              <a:rPr spc="-60" dirty="0"/>
              <a:t> </a:t>
            </a:r>
            <a:r>
              <a:rPr dirty="0"/>
              <a:t>empty</a:t>
            </a:r>
            <a:r>
              <a:rPr spc="-75" dirty="0"/>
              <a:t> </a:t>
            </a:r>
            <a:r>
              <a:rPr dirty="0"/>
              <a:t>table</a:t>
            </a:r>
            <a:r>
              <a:rPr spc="-65" dirty="0"/>
              <a:t> </a:t>
            </a:r>
            <a:r>
              <a:rPr dirty="0"/>
              <a:t>cell</a:t>
            </a:r>
            <a:r>
              <a:rPr spc="-80" dirty="0"/>
              <a:t> </a:t>
            </a:r>
            <a:r>
              <a:rPr spc="-10" dirty="0"/>
              <a:t>tags).</a:t>
            </a:r>
          </a:p>
          <a:p>
            <a:pPr marL="240029" marR="231140" indent="-227329">
              <a:lnSpc>
                <a:spcPts val="259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/>
              <a:t>Don’t</a:t>
            </a:r>
            <a:r>
              <a:rPr spc="-55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afraid</a:t>
            </a:r>
            <a:r>
              <a:rPr spc="-4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creative,</a:t>
            </a:r>
            <a:r>
              <a:rPr spc="-50" dirty="0"/>
              <a:t> </a:t>
            </a:r>
            <a:r>
              <a:rPr dirty="0"/>
              <a:t>especially</a:t>
            </a:r>
            <a:r>
              <a:rPr spc="-40" dirty="0"/>
              <a:t> </a:t>
            </a:r>
            <a:r>
              <a:rPr dirty="0"/>
              <a:t>when</a:t>
            </a:r>
            <a:r>
              <a:rPr spc="-45" dirty="0"/>
              <a:t> </a:t>
            </a:r>
            <a:r>
              <a:rPr dirty="0"/>
              <a:t>dealing</a:t>
            </a:r>
            <a:r>
              <a:rPr spc="-4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dirty="0"/>
              <a:t>older</a:t>
            </a:r>
            <a:r>
              <a:rPr spc="-40" dirty="0"/>
              <a:t> </a:t>
            </a:r>
            <a:r>
              <a:rPr spc="-20" dirty="0"/>
              <a:t>PDF. 	</a:t>
            </a:r>
            <a:r>
              <a:rPr dirty="0"/>
              <a:t>PDFs</a:t>
            </a:r>
            <a:r>
              <a:rPr spc="-5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really</a:t>
            </a:r>
            <a:r>
              <a:rPr spc="-25" dirty="0"/>
              <a:t> </a:t>
            </a:r>
            <a:r>
              <a:rPr spc="-10" dirty="0"/>
              <a:t>complex!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AD4D3-9464-4FFB-9E8D-1E36B5D833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Tools</a:t>
            </a:r>
            <a:r>
              <a:rPr spc="-170" dirty="0"/>
              <a:t> </a:t>
            </a:r>
            <a:r>
              <a:rPr dirty="0"/>
              <a:t>and</a:t>
            </a:r>
            <a:r>
              <a:rPr spc="-17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23008"/>
            <a:ext cx="10146030" cy="329501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5"/>
              </a:spcBef>
              <a:buClr>
                <a:srgbClr val="12294A"/>
              </a:buClr>
              <a:buChar char="•"/>
              <a:tabLst>
                <a:tab pos="240029" algn="l"/>
              </a:tabLst>
            </a:pPr>
            <a:r>
              <a:rPr sz="24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Common</a:t>
            </a:r>
            <a:r>
              <a:rPr sz="2400" u="sng" spc="-15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Accessibility</a:t>
            </a:r>
            <a:r>
              <a:rPr sz="2400" u="sng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Issues</a:t>
            </a:r>
            <a:r>
              <a:rPr sz="2400" spc="-45" dirty="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(Seattle,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WA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Public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Schools)</a:t>
            </a:r>
            <a:endParaRPr sz="2400">
              <a:latin typeface="Arial MT"/>
              <a:cs typeface="Arial MT"/>
            </a:endParaRPr>
          </a:p>
          <a:p>
            <a:pPr marL="240029" marR="913765" indent="-227329">
              <a:lnSpc>
                <a:spcPts val="2590"/>
              </a:lnSpc>
              <a:spcBef>
                <a:spcPts val="1040"/>
              </a:spcBef>
              <a:buClr>
                <a:srgbClr val="12294A"/>
              </a:buClr>
              <a:buChar char="•"/>
              <a:tabLst>
                <a:tab pos="241300" algn="l"/>
              </a:tabLst>
            </a:pPr>
            <a:r>
              <a:rPr sz="2400" u="sng" spc="-7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Ten</a:t>
            </a:r>
            <a:r>
              <a:rPr sz="2400" u="sng" spc="-10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Common</a:t>
            </a:r>
            <a:r>
              <a:rPr sz="2400" u="sng" spc="-1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PDF</a:t>
            </a:r>
            <a:r>
              <a:rPr sz="2400" u="sng" spc="-1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Accessibility</a:t>
            </a:r>
            <a:r>
              <a:rPr sz="2400" u="sng" spc="-7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Errors</a:t>
            </a:r>
            <a:r>
              <a:rPr sz="2400" u="sng" spc="-9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with</a:t>
            </a:r>
            <a:r>
              <a:rPr sz="2400" u="sng" spc="-9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Solutions</a:t>
            </a:r>
            <a:r>
              <a:rPr sz="2400" spc="-65" dirty="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(University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of 	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Ottawa)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lr>
                <a:srgbClr val="12294A"/>
              </a:buClr>
              <a:buChar char="•"/>
              <a:tabLst>
                <a:tab pos="240029" algn="l"/>
              </a:tabLst>
            </a:pPr>
            <a:r>
              <a:rPr sz="2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PDF</a:t>
            </a:r>
            <a:r>
              <a:rPr sz="2400" u="sng" spc="-16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Accessibility</a:t>
            </a:r>
            <a:r>
              <a:rPr sz="2400" spc="-80" dirty="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(University</a:t>
            </a:r>
            <a:r>
              <a:rPr sz="2400" spc="-1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2400" spc="-1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Arizona)</a:t>
            </a:r>
            <a:endParaRPr sz="2400">
              <a:latin typeface="Arial MT"/>
              <a:cs typeface="Arial MT"/>
            </a:endParaRPr>
          </a:p>
          <a:p>
            <a:pPr marL="239395" marR="5080" indent="-227329">
              <a:lnSpc>
                <a:spcPts val="2590"/>
              </a:lnSpc>
              <a:spcBef>
                <a:spcPts val="1045"/>
              </a:spcBef>
              <a:buClr>
                <a:srgbClr val="12294A"/>
              </a:buClr>
              <a:buChar char="•"/>
              <a:tabLst>
                <a:tab pos="240665" algn="l"/>
              </a:tabLst>
            </a:pP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5"/>
              </a:rPr>
              <a:t>Equidox</a:t>
            </a:r>
            <a:r>
              <a:rPr sz="2400" spc="-35" dirty="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Cloud-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based,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UNC-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licensed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tool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making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accessible 	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through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web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application.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Works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well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tagging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on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which</a:t>
            </a:r>
            <a:r>
              <a:rPr sz="2400" spc="-1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Acrobat 	crashes.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Char char="•"/>
              <a:tabLst>
                <a:tab pos="240029" algn="l"/>
              </a:tabLst>
            </a:pP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Tools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unlocking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PDFs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Smallpdf</a:t>
            </a:r>
            <a:r>
              <a:rPr sz="2400" spc="-50" dirty="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7"/>
              </a:rPr>
              <a:t>iLovePDF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606F9-3ED9-47A0-B951-A91109BDE3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Demonstration!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72497"/>
            <a:ext cx="6828155" cy="29171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25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University</a:t>
            </a:r>
            <a:r>
              <a:rPr sz="2400" u="sng" spc="-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of</a:t>
            </a:r>
            <a:r>
              <a:rPr sz="2400" u="sng" spc="-16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2"/>
              </a:rPr>
              <a:t>Arizona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Clr>
                <a:srgbClr val="12294A"/>
              </a:buClr>
              <a:buChar char="•"/>
              <a:tabLst>
                <a:tab pos="697865" algn="l"/>
              </a:tabLst>
            </a:pPr>
            <a:r>
              <a:rPr sz="20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3"/>
              </a:rPr>
              <a:t>Yeats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Clr>
                <a:srgbClr val="12294A"/>
              </a:buClr>
              <a:buChar char="•"/>
              <a:tabLst>
                <a:tab pos="697865" algn="l"/>
              </a:tabLst>
            </a:pPr>
            <a:r>
              <a:rPr sz="20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A</a:t>
            </a:r>
            <a:r>
              <a:rPr sz="2000" u="sng" spc="-14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20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World</a:t>
            </a:r>
            <a:r>
              <a:rPr sz="2000" u="sng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20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of</a:t>
            </a:r>
            <a:r>
              <a:rPr sz="2000" u="sng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20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4"/>
              </a:rPr>
              <a:t>Love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59"/>
              </a:spcBef>
              <a:buClr>
                <a:srgbClr val="12294A"/>
              </a:buClr>
              <a:buChar char="•"/>
              <a:tabLst>
                <a:tab pos="697865" algn="l"/>
              </a:tabLst>
            </a:pPr>
            <a:r>
              <a:rPr sz="20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5"/>
              </a:rPr>
              <a:t>Letter</a:t>
            </a:r>
            <a:endParaRPr sz="20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Illinois</a:t>
            </a:r>
            <a:r>
              <a:rPr sz="2400" u="sng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Department</a:t>
            </a:r>
            <a:r>
              <a:rPr sz="2400" u="sng" spc="-5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of</a:t>
            </a:r>
            <a:r>
              <a:rPr sz="2400" u="sng" spc="-7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24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Human</a:t>
            </a:r>
            <a:r>
              <a:rPr sz="2400" u="sng" spc="-5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24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6"/>
              </a:rPr>
              <a:t>Services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70"/>
              </a:spcBef>
              <a:buClr>
                <a:srgbClr val="12294A"/>
              </a:buClr>
              <a:buChar char="•"/>
              <a:tabLst>
                <a:tab pos="697865" algn="l"/>
              </a:tabLst>
            </a:pPr>
            <a:r>
              <a:rPr sz="20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7"/>
              </a:rPr>
              <a:t>Newsletter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59"/>
              </a:spcBef>
              <a:buClr>
                <a:srgbClr val="12294A"/>
              </a:buClr>
              <a:buChar char="•"/>
              <a:tabLst>
                <a:tab pos="697865" algn="l"/>
              </a:tabLst>
            </a:pPr>
            <a:r>
              <a:rPr sz="20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8"/>
              </a:rPr>
              <a:t>Order</a:t>
            </a:r>
            <a:r>
              <a:rPr sz="2000" u="sng" spc="-5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20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8"/>
              </a:rPr>
              <a:t>Form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60"/>
              </a:spcBef>
              <a:buClr>
                <a:srgbClr val="12294A"/>
              </a:buClr>
              <a:buChar char="•"/>
              <a:tabLst>
                <a:tab pos="697865" algn="l"/>
              </a:tabLst>
            </a:pPr>
            <a:r>
              <a:rPr sz="20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9"/>
              </a:rPr>
              <a:t>Annual</a:t>
            </a:r>
            <a:r>
              <a:rPr sz="2000" u="sng" spc="-8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20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  <a:hlinkClick r:id="rId9"/>
              </a:rPr>
              <a:t>Report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EDA18-81A3-4BB9-AFC8-48B389B465B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DB66AE-3337-4963-8E66-CA1DAC5AD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90"/>
            <a:ext cx="12268200" cy="6426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EDA18-81A3-4BB9-AFC8-48B389B465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2400"/>
            <a:ext cx="1300660" cy="130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711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</TotalTime>
  <Words>581</Words>
  <Application>Microsoft Office PowerPoint</Application>
  <PresentationFormat>Widescreen</PresentationFormat>
  <Paragraphs>146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Calibri</vt:lpstr>
      <vt:lpstr>Calibri Light</vt:lpstr>
      <vt:lpstr>Retrospect</vt:lpstr>
      <vt:lpstr>PDF Accessibility</vt:lpstr>
      <vt:lpstr>PDF Basics</vt:lpstr>
      <vt:lpstr>PDF Components</vt:lpstr>
      <vt:lpstr>PDF Metadata</vt:lpstr>
      <vt:lpstr>PDF Metadata</vt:lpstr>
      <vt:lpstr>Protected and Locked PDFs</vt:lpstr>
      <vt:lpstr>Getting Started with PDF Accessibility</vt:lpstr>
      <vt:lpstr>Checking for PDF Accessibility</vt:lpstr>
      <vt:lpstr>Checking for PDF Accessibility</vt:lpstr>
      <vt:lpstr>General PDF Document Accessibility</vt:lpstr>
      <vt:lpstr>Page Content Accessibility</vt:lpstr>
      <vt:lpstr>Forms Accessibility</vt:lpstr>
      <vt:lpstr>Alternate Text Accessibility</vt:lpstr>
      <vt:lpstr>Table Accessibility</vt:lpstr>
      <vt:lpstr>List Accessibility</vt:lpstr>
      <vt:lpstr>Headings Accessibility</vt:lpstr>
      <vt:lpstr>Tags</vt:lpstr>
      <vt:lpstr>Tags</vt:lpstr>
      <vt:lpstr>Tags</vt:lpstr>
      <vt:lpstr>Tags</vt:lpstr>
      <vt:lpstr>Making Tagging Easier!</vt:lpstr>
      <vt:lpstr>Tools and Resources</vt:lpstr>
      <vt:lpstr>Demonstration!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Accessibility</dc:title>
  <dc:subject>How to make your documents ADA-compliant</dc:subject>
  <dc:creator>Gary Wilhelm</dc:creator>
  <cp:lastModifiedBy>naveen bellamkonda</cp:lastModifiedBy>
  <cp:revision>3</cp:revision>
  <dcterms:created xsi:type="dcterms:W3CDTF">2026-03-16T04:45:19Z</dcterms:created>
  <dcterms:modified xsi:type="dcterms:W3CDTF">2026-03-16T07:33:47Z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2020-12-08T00:00:00Z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2026-03-16T00:00:00Z</vt:filetime>
  </property>
  <property fmtid="{D5CDD505-2E9C-101B-9397-08002B2CF9AE}" pid="5" name="Producer">
    <vt:lpwstr>Adobe PDF Library 20.13.98</vt:lpwstr>
  </property>
</Properties>
</file>